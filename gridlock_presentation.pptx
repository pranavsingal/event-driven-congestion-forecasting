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82880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40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Arial"/>
              </a:defRPr>
            </a:pPr>
            <a:r>
              <a:rPr dirty="0"/>
              <a:t>GRIDLOCK</a:t>
            </a:r>
          </a:p>
          <a:p>
            <a:pPr>
              <a:spcAft>
                <a:spcPts val="2800"/>
              </a:spcAft>
              <a:defRPr sz="2200" b="1">
                <a:solidFill>
                  <a:srgbClr val="06B6D4"/>
                </a:solidFill>
                <a:latin typeface="Arial"/>
              </a:defRPr>
            </a:pPr>
            <a:r>
              <a:rPr dirty="0"/>
              <a:t>Event-Driven Congestion Forecasting &amp; Traffic Management</a:t>
            </a:r>
          </a:p>
          <a:p>
            <a:pPr>
              <a:spcAft>
                <a:spcPts val="48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rPr dirty="0"/>
              <a:t>An operations control dashboard integrates a </a:t>
            </a:r>
            <a:r>
              <a:rPr dirty="0" err="1"/>
              <a:t>FastAPI</a:t>
            </a:r>
            <a:r>
              <a:rPr dirty="0"/>
              <a:t> ML pipeline, Node.js Express incident dispatch dispatcher, and React Analytics interface.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rPr dirty="0"/>
              <a:t>AI Service  •  Express Backend  •  React Dashboard</a:t>
            </a:r>
          </a:p>
          <a:p>
            <a:pPr>
              <a:defRPr sz="1200"/>
            </a:pPr>
            <a:endParaRPr dirty="0"/>
          </a:p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rPr dirty="0"/>
              <a:t>Team: Ankit Choudhary</a:t>
            </a:r>
            <a:r>
              <a:rPr lang="en-IN" dirty="0"/>
              <a:t> | Pranav Singal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DESIGN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Platform 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AI Microservice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FastAPI Gateway: </a:t>
            </a:r>
            <a:r>
              <a:rPr sz="1400" b="0">
                <a:solidFill>
                  <a:srgbClr val="E2E8F0"/>
                </a:solidFill>
                <a:latin typeface="Arial"/>
              </a:rPr>
              <a:t>Exposes real-time model inference and prediction endpoints.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ML Models: </a:t>
            </a:r>
            <a:r>
              <a:rPr sz="1400" b="0">
                <a:solidFill>
                  <a:srgbClr val="E2E8F0"/>
                </a:solidFill>
                <a:latin typeface="Arial"/>
              </a:rPr>
              <a:t>4 productionized ML classifiers &amp; regression estimators.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Data Pipeline: </a:t>
            </a:r>
            <a:r>
              <a:rPr sz="1400" b="0">
                <a:solidFill>
                  <a:srgbClr val="E2E8F0"/>
                </a:solidFill>
                <a:latin typeface="Arial"/>
              </a:rPr>
              <a:t>Cleans, builds feature matrices, and clusters coordinates.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Routing Engine: </a:t>
            </a:r>
            <a:r>
              <a:rPr sz="1400" b="0">
                <a:solidFill>
                  <a:srgbClr val="E2E8F0"/>
                </a:solidFill>
                <a:latin typeface="Arial"/>
              </a:rPr>
              <a:t>Calculates alternate corridors around active hotspots.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Core Dispatch (Node.js)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Express Server: </a:t>
            </a:r>
            <a:r>
              <a:rPr sz="1400" b="0">
                <a:solidFill>
                  <a:srgbClr val="E2E8F0"/>
                </a:solidFill>
                <a:latin typeface="Arial"/>
              </a:rPr>
              <a:t>Orchestrates incident ticketing workflows &amp; unit dispatching.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Database Connectors: </a:t>
            </a:r>
            <a:r>
              <a:rPr sz="1400" b="0">
                <a:solidFill>
                  <a:srgbClr val="E2E8F0"/>
                </a:solidFill>
                <a:latin typeface="Arial"/>
              </a:rPr>
              <a:t>Standardized Mongoose schemas for MongoDB integration.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Hybrid Store: </a:t>
            </a:r>
            <a:r>
              <a:rPr sz="1400" b="0">
                <a:solidFill>
                  <a:srgbClr val="E2E8F0"/>
                </a:solidFill>
                <a:latin typeface="Arial"/>
              </a:rPr>
              <a:t>Graceful local memory array fallbacks for robust offline support.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Dispatch APIs: </a:t>
            </a:r>
            <a:r>
              <a:rPr sz="1400" b="0">
                <a:solidFill>
                  <a:srgbClr val="E2E8F0"/>
                </a:solidFill>
                <a:latin typeface="Arial"/>
              </a:rPr>
              <a:t>Exposes endpoints to alert and route emergency units.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Analytics Panel (React)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Vite Bundle: </a:t>
            </a:r>
            <a:r>
              <a:rPr sz="1400" b="0">
                <a:solidFill>
                  <a:srgbClr val="E2E8F0"/>
                </a:solidFill>
                <a:latin typeface="Arial"/>
              </a:rPr>
              <a:t>Highly optimized React SPA rendering operations controls.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Leaflet GIS Map: </a:t>
            </a:r>
            <a:r>
              <a:rPr sz="1400" b="0">
                <a:solidFill>
                  <a:srgbClr val="E2E8F0"/>
                </a:solidFill>
                <a:latin typeface="Arial"/>
              </a:rPr>
              <a:t>Interactively visualizes detour segments and bottlenecks.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Glassmorphism Theme: </a:t>
            </a:r>
            <a:r>
              <a:rPr sz="1400" b="0">
                <a:solidFill>
                  <a:srgbClr val="E2E8F0"/>
                </a:solidFill>
                <a:latin typeface="Arial"/>
              </a:rPr>
              <a:t>Premium, responsive CSS grid-based layouts.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Live Telemetry: </a:t>
            </a:r>
            <a:r>
              <a:rPr sz="1400" b="0">
                <a:solidFill>
                  <a:srgbClr val="E2E8F0"/>
                </a:solidFill>
                <a:latin typeface="Arial"/>
              </a:rPr>
              <a:t>Real-time charts detailing pipeline executions and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INTERACTIVE MONITORING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Control Room Operations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621792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_view_17817737037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792224"/>
            <a:ext cx="6108192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9202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Interactive GIS Map: </a:t>
            </a:r>
            <a:r>
              <a:rPr sz="1400" b="0">
                <a:solidFill>
                  <a:srgbClr val="E2E8F0"/>
                </a:solidFill>
                <a:latin typeface="Arial"/>
              </a:rPr>
              <a:t>Utilizes high-fidelity Leaflet mapping to display barricades, bottlenecks, and alternate paths.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District Street Grid: </a:t>
            </a:r>
            <a:r>
              <a:rPr sz="1400" b="0">
                <a:solidFill>
                  <a:srgbClr val="E2E8F0"/>
                </a:solidFill>
                <a:latin typeface="Arial"/>
              </a:rPr>
              <a:t>Rendered as a live SVG street grid that shows real-time congestion levels for district segments.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Active Threat Level Indicators: </a:t>
            </a:r>
            <a:r>
              <a:rPr sz="1400" b="0">
                <a:solidFill>
                  <a:srgbClr val="E2E8F0"/>
                </a:solidFill>
                <a:latin typeface="Arial"/>
              </a:rPr>
              <a:t>Groups incidents into Low, Moderate, and Critical warning panels.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Simulated Dispatch Panel: </a:t>
            </a:r>
            <a:r>
              <a:rPr sz="1400" b="0">
                <a:solidFill>
                  <a:srgbClr val="E2E8F0"/>
                </a:solidFill>
                <a:latin typeface="Arial"/>
              </a:rPr>
              <a:t>Allows operators to dispatch emergency units and diversion coordinators on-the-fly.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MACHINE LEARNING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AI Model Registry &amp;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Severity Classifier: </a:t>
            </a:r>
            <a:r>
              <a:rPr sz="1400" b="0">
                <a:solidFill>
                  <a:srgbClr val="E2E8F0"/>
                </a:solidFill>
                <a:latin typeface="Arial"/>
              </a:rPr>
              <a:t>XGBoost classifier categorizing bottleneck threat potential (Low, Moderate, Critical).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Duration Regressor: </a:t>
            </a:r>
            <a:r>
              <a:rPr sz="1400" b="0">
                <a:solidFill>
                  <a:srgbClr val="E2E8F0"/>
                </a:solidFill>
                <a:latin typeface="Arial"/>
              </a:rPr>
              <a:t>XGBoost regressor estimating resolution durations in minutes.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Closure Classifier: </a:t>
            </a:r>
            <a:r>
              <a:rPr sz="1400" b="0">
                <a:solidFill>
                  <a:srgbClr val="E2E8F0"/>
                </a:solidFill>
                <a:latin typeface="Arial"/>
              </a:rPr>
              <a:t>Random Forest classifier predicting complete vs. partial road closure requirements.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Shadow DL Model: </a:t>
            </a:r>
            <a:r>
              <a:rPr sz="1400" b="0">
                <a:solidFill>
                  <a:srgbClr val="E2E8F0"/>
                </a:solidFill>
                <a:latin typeface="Arial"/>
              </a:rPr>
              <a:t>PyTorch Multi-layer Perceptron (MLP) mapping peak-hour traffic inflow sequences.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737360"/>
            <a:ext cx="621792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bout_ai_view_1781773929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792224"/>
            <a:ext cx="6108192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EDA &amp; Analytical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621792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da_insights_view_1781773940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792224"/>
            <a:ext cx="6108192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9202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Bottleneck Correlations: </a:t>
            </a:r>
            <a:r>
              <a:rPr sz="1400" b="0">
                <a:solidFill>
                  <a:srgbClr val="E2E8F0"/>
                </a:solidFill>
                <a:latin typeface="Arial"/>
              </a:rPr>
              <a:t>Displays statistical correlations between scheduled events and resulting corridor bottlenecks.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Cause Analysis: </a:t>
            </a:r>
            <a:r>
              <a:rPr sz="1400" b="0">
                <a:solidFill>
                  <a:srgbClr val="E2E8F0"/>
                </a:solidFill>
                <a:latin typeface="Arial"/>
              </a:rPr>
              <a:t>Visualizes event categories (e.g. derby match, concert, weather) against congestion severity.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Temporal Spikes: </a:t>
            </a:r>
            <a:r>
              <a:rPr sz="1400" b="0">
                <a:solidFill>
                  <a:srgbClr val="E2E8F0"/>
                </a:solidFill>
                <a:latin typeface="Arial"/>
              </a:rPr>
              <a:t>Captures traffic flow peaks during weekdays vs weekends and peak hours vs off-hours.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OFFLINE AUDITS &amp;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Historical Logs &amp; Caching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Offline Caching: </a:t>
            </a:r>
            <a:r>
              <a:rPr sz="1400" b="0">
                <a:solidFill>
                  <a:srgbClr val="E2E8F0"/>
                </a:solidFill>
                <a:latin typeface="Arial"/>
              </a:rPr>
              <a:t>Built-in cache system to ensure historical logs remain active and auditable even without backend connection.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Event Logs: </a:t>
            </a:r>
            <a:r>
              <a:rPr sz="1400" b="0">
                <a:solidFill>
                  <a:srgbClr val="E2E8F0"/>
                </a:solidFill>
                <a:latin typeface="Arial"/>
              </a:rPr>
              <a:t>Comprehensive tables detailing historical incident dates, causes, bottlenecks, and estimated durations.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Rerouting Efficiency: </a:t>
            </a:r>
            <a:r>
              <a:rPr sz="1400" b="0">
                <a:solidFill>
                  <a:srgbClr val="E2E8F0"/>
                </a:solidFill>
                <a:latin typeface="Arial"/>
              </a:rPr>
              <a:t>Tracks estimated and actual travel time improvements when drivers utilize proactive rerouting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737360"/>
            <a:ext cx="621792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storical_logs_view_17817739509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792224"/>
            <a:ext cx="6108192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DEEP-DIVE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ML Insights: Feature Importance &amp; Corridor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949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792224"/>
            <a:ext cx="5285232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9360" y="1737360"/>
            <a:ext cx="53949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rrid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792224"/>
            <a:ext cx="5285232" cy="3182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Key Predictors: </a:t>
            </a:r>
            <a:r>
              <a:rPr sz="1400" b="0">
                <a:solidFill>
                  <a:srgbClr val="E2E8F0"/>
                </a:solidFill>
                <a:latin typeface="Arial"/>
              </a:rPr>
              <a:t>Cause trigger (Concerts, Derby Matches, Water Logging) and target Corridor exhibit the highest Gini feature importance.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Corridor Heatmap: </a:t>
            </a:r>
            <a:r>
              <a:rPr sz="1400" b="0">
                <a:solidFill>
                  <a:srgbClr val="E2E8F0"/>
                </a:solidFill>
                <a:latin typeface="Arial"/>
              </a:rPr>
              <a:t>Shows severe congestion hotspots cluster heavily around stadium routes, peak commuter intersections, and bridges.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DEEP-DIVE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Incident Metrics: Temporal Patterns &amp; Severity Splits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949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cident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792224"/>
            <a:ext cx="5285232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9360" y="1737360"/>
            <a:ext cx="53949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everit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792224"/>
            <a:ext cx="5285232" cy="3182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Temporal Trends: </a:t>
            </a:r>
            <a:r>
              <a:rPr sz="1400" b="0">
                <a:solidFill>
                  <a:srgbClr val="E2E8F0"/>
                </a:solidFill>
                <a:latin typeface="Arial"/>
              </a:rPr>
              <a:t>Incidents show bi-modal peaks aligning with morning (8-9 AM) and evening (5-7 PM) peak commuting hours.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6B6D4"/>
                </a:solidFill>
                <a:latin typeface="Arial"/>
              </a:rPr>
              <a:t>•  Severity Splits: </a:t>
            </a:r>
            <a:r>
              <a:rPr sz="1400" b="0">
                <a:solidFill>
                  <a:srgbClr val="E2E8F0"/>
                </a:solidFill>
                <a:latin typeface="Arial"/>
              </a:rPr>
              <a:t>Moderate (43.5%) and Low (39.1%) represent the bulk of cases. Critical threats (17.4%) trigger Express backend alarms.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615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Singal</cp:lastModifiedBy>
  <cp:revision>2</cp:revision>
  <dcterms:created xsi:type="dcterms:W3CDTF">2013-01-27T09:14:16Z</dcterms:created>
  <dcterms:modified xsi:type="dcterms:W3CDTF">2026-06-21T17:44:51Z</dcterms:modified>
  <cp:category/>
</cp:coreProperties>
</file>